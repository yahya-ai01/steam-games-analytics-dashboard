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0" r:id="rId3"/>
    <p:sldId id="262" r:id="rId4"/>
    <p:sldId id="263" r:id="rId5"/>
    <p:sldId id="264" r:id="rId6"/>
  </p:sldIdLst>
  <p:sldSz cx="18288000" cy="10287000"/>
  <p:notesSz cx="6858000" cy="9144000"/>
  <p:embeddedFontLst>
    <p:embeddedFont>
      <p:font typeface="League Spartan" panose="020B0604020202020204" charset="0"/>
      <p:regular r:id="rId7"/>
    </p:embeddedFont>
    <p:embeddedFont>
      <p:font typeface="Open Sans Bold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53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0" y="-38486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0" y="-88562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3505473" y="7357420"/>
            <a:ext cx="11219904" cy="1376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39"/>
              </a:lnSpc>
            </a:pPr>
            <a:r>
              <a:rPr lang="en-US" sz="9942" spc="367">
                <a:solidFill>
                  <a:srgbClr val="8D8B8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DASHBOARD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34048" y="7261971"/>
            <a:ext cx="11219904" cy="1376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39"/>
              </a:lnSpc>
            </a:pPr>
            <a:r>
              <a:rPr lang="en-US" sz="9942" spc="367">
                <a:solidFill>
                  <a:srgbClr val="E4E4E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DASHBOARD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34048" y="7252087"/>
            <a:ext cx="11219904" cy="1376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39"/>
              </a:lnSpc>
            </a:pPr>
            <a:r>
              <a:rPr lang="en-US" sz="9942" spc="36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14460">
                <a:alpha val="100000"/>
              </a:srgbClr>
            </a:gs>
            <a:gs pos="100000">
              <a:srgbClr val="101C3C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97277" y="1486457"/>
            <a:ext cx="13893446" cy="1040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0"/>
              </a:lnSpc>
              <a:spcBef>
                <a:spcPct val="0"/>
              </a:spcBef>
            </a:pPr>
            <a:r>
              <a:rPr lang="en-US" sz="3849" b="1" spc="14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VOICI LES NOMS DES COLONNES DANS TON FICHIER STEAM_DATA.CSV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62048" y="4052231"/>
            <a:ext cx="2663577" cy="4713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8404" lvl="1" indent="-224202" algn="l">
              <a:lnSpc>
                <a:spcPts val="2201"/>
              </a:lnSpc>
              <a:spcBef>
                <a:spcPct val="0"/>
              </a:spcBef>
              <a:buFont typeface="Arial"/>
              <a:buChar char="•"/>
            </a:pPr>
            <a:r>
              <a:rPr lang="en-US" sz="2076" b="1" spc="7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APPID</a:t>
            </a:r>
          </a:p>
          <a:p>
            <a:pPr algn="l">
              <a:lnSpc>
                <a:spcPts val="2201"/>
              </a:lnSpc>
              <a:spcBef>
                <a:spcPct val="0"/>
              </a:spcBef>
            </a:pPr>
            <a:endParaRPr lang="en-US" sz="2076" b="1" spc="76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48404" lvl="1" indent="-224202" algn="l">
              <a:lnSpc>
                <a:spcPts val="2201"/>
              </a:lnSpc>
              <a:spcBef>
                <a:spcPct val="0"/>
              </a:spcBef>
              <a:buFont typeface="Arial"/>
              <a:buChar char="•"/>
            </a:pPr>
            <a:r>
              <a:rPr lang="en-US" sz="2076" b="1" spc="76">
                <a:solidFill>
                  <a:srgbClr val="ABE2F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NAME</a:t>
            </a:r>
          </a:p>
          <a:p>
            <a:pPr algn="l">
              <a:lnSpc>
                <a:spcPts val="2201"/>
              </a:lnSpc>
              <a:spcBef>
                <a:spcPct val="0"/>
              </a:spcBef>
            </a:pPr>
            <a:endParaRPr lang="en-US" sz="2076" b="1" spc="76">
              <a:solidFill>
                <a:srgbClr val="ABE2F5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48404" lvl="1" indent="-224202" algn="l">
              <a:lnSpc>
                <a:spcPts val="2201"/>
              </a:lnSpc>
              <a:spcBef>
                <a:spcPct val="0"/>
              </a:spcBef>
              <a:buFont typeface="Arial"/>
              <a:buChar char="•"/>
            </a:pPr>
            <a:r>
              <a:rPr lang="en-US" sz="2076" b="1" spc="7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RELEASE_DATE</a:t>
            </a:r>
          </a:p>
          <a:p>
            <a:pPr algn="l">
              <a:lnSpc>
                <a:spcPts val="2201"/>
              </a:lnSpc>
              <a:spcBef>
                <a:spcPct val="0"/>
              </a:spcBef>
            </a:pPr>
            <a:r>
              <a:rPr lang="en-US" sz="2076" b="1" spc="7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</a:p>
          <a:p>
            <a:pPr marL="448404" lvl="1" indent="-224202" algn="l">
              <a:lnSpc>
                <a:spcPts val="2201"/>
              </a:lnSpc>
              <a:spcBef>
                <a:spcPct val="0"/>
              </a:spcBef>
              <a:buFont typeface="Arial"/>
              <a:buChar char="•"/>
            </a:pPr>
            <a:r>
              <a:rPr lang="en-US" sz="2076" b="1" spc="76">
                <a:solidFill>
                  <a:srgbClr val="ABE2F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DEVELOPER</a:t>
            </a:r>
          </a:p>
          <a:p>
            <a:pPr algn="l">
              <a:lnSpc>
                <a:spcPts val="2201"/>
              </a:lnSpc>
              <a:spcBef>
                <a:spcPct val="0"/>
              </a:spcBef>
            </a:pPr>
            <a:endParaRPr lang="en-US" sz="2076" b="1" spc="76">
              <a:solidFill>
                <a:srgbClr val="ABE2F5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48404" lvl="1" indent="-224202" algn="l">
              <a:lnSpc>
                <a:spcPts val="2201"/>
              </a:lnSpc>
              <a:spcBef>
                <a:spcPct val="0"/>
              </a:spcBef>
              <a:buFont typeface="Arial"/>
              <a:buChar char="•"/>
            </a:pPr>
            <a:r>
              <a:rPr lang="en-US" sz="2076" b="1" spc="7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PUBLISHER</a:t>
            </a:r>
          </a:p>
          <a:p>
            <a:pPr algn="l">
              <a:lnSpc>
                <a:spcPts val="2201"/>
              </a:lnSpc>
              <a:spcBef>
                <a:spcPct val="0"/>
              </a:spcBef>
            </a:pPr>
            <a:endParaRPr lang="en-US" sz="2076" b="1" spc="76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48404" lvl="1" indent="-224202" algn="l">
              <a:lnSpc>
                <a:spcPts val="2201"/>
              </a:lnSpc>
              <a:spcBef>
                <a:spcPct val="0"/>
              </a:spcBef>
              <a:buFont typeface="Arial"/>
              <a:buChar char="•"/>
            </a:pPr>
            <a:r>
              <a:rPr lang="en-US" sz="2076" b="1" spc="76">
                <a:solidFill>
                  <a:srgbClr val="ABE2F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PLATFORMS</a:t>
            </a:r>
          </a:p>
          <a:p>
            <a:pPr algn="l">
              <a:lnSpc>
                <a:spcPts val="2201"/>
              </a:lnSpc>
              <a:spcBef>
                <a:spcPct val="0"/>
              </a:spcBef>
            </a:pPr>
            <a:endParaRPr lang="en-US" sz="2076" b="1" spc="76">
              <a:solidFill>
                <a:srgbClr val="ABE2F5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48404" lvl="1" indent="-224202" algn="l">
              <a:lnSpc>
                <a:spcPts val="2201"/>
              </a:lnSpc>
              <a:spcBef>
                <a:spcPct val="0"/>
              </a:spcBef>
              <a:buFont typeface="Arial"/>
              <a:buChar char="•"/>
            </a:pPr>
            <a:r>
              <a:rPr lang="en-US" sz="2076" b="1" spc="7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REQUIRED_AGE</a:t>
            </a:r>
          </a:p>
          <a:p>
            <a:pPr algn="l">
              <a:lnSpc>
                <a:spcPts val="2201"/>
              </a:lnSpc>
              <a:spcBef>
                <a:spcPct val="0"/>
              </a:spcBef>
            </a:pPr>
            <a:endParaRPr lang="en-US" sz="2076" b="1" spc="76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48404" lvl="1" indent="-224202" algn="l">
              <a:lnSpc>
                <a:spcPts val="2201"/>
              </a:lnSpc>
              <a:spcBef>
                <a:spcPct val="0"/>
              </a:spcBef>
              <a:buFont typeface="Arial"/>
              <a:buChar char="•"/>
            </a:pPr>
            <a:r>
              <a:rPr lang="en-US" sz="2076" b="1" spc="76">
                <a:solidFill>
                  <a:srgbClr val="ABE2F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CATEGORIES</a:t>
            </a:r>
          </a:p>
          <a:p>
            <a:pPr algn="l">
              <a:lnSpc>
                <a:spcPts val="2201"/>
              </a:lnSpc>
              <a:spcBef>
                <a:spcPct val="0"/>
              </a:spcBef>
            </a:pPr>
            <a:endParaRPr lang="en-US" sz="2076" b="1" spc="76">
              <a:solidFill>
                <a:srgbClr val="ABE2F5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48404" lvl="1" indent="-224202" algn="l">
              <a:lnSpc>
                <a:spcPts val="2201"/>
              </a:lnSpc>
              <a:spcBef>
                <a:spcPct val="0"/>
              </a:spcBef>
              <a:buFont typeface="Arial"/>
              <a:buChar char="•"/>
            </a:pPr>
            <a:r>
              <a:rPr lang="en-US" sz="2076" b="1" spc="7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GENRES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958235" y="4052231"/>
            <a:ext cx="3440013" cy="4713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8404" lvl="1" indent="-224202" algn="l">
              <a:lnSpc>
                <a:spcPts val="2201"/>
              </a:lnSpc>
              <a:spcBef>
                <a:spcPct val="0"/>
              </a:spcBef>
              <a:buFont typeface="Arial"/>
              <a:buChar char="•"/>
            </a:pPr>
            <a:r>
              <a:rPr lang="en-US" sz="2076" b="1" spc="7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ACHIEVEMENTS</a:t>
            </a:r>
          </a:p>
          <a:p>
            <a:pPr algn="l">
              <a:lnSpc>
                <a:spcPts val="2201"/>
              </a:lnSpc>
              <a:spcBef>
                <a:spcPct val="0"/>
              </a:spcBef>
            </a:pPr>
            <a:endParaRPr lang="en-US" sz="2076" b="1" spc="76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48404" lvl="1" indent="-224202" algn="l">
              <a:lnSpc>
                <a:spcPts val="2201"/>
              </a:lnSpc>
              <a:spcBef>
                <a:spcPct val="0"/>
              </a:spcBef>
              <a:buFont typeface="Arial"/>
              <a:buChar char="•"/>
            </a:pPr>
            <a:r>
              <a:rPr lang="en-US" sz="2076" b="1" spc="76">
                <a:solidFill>
                  <a:srgbClr val="ABE2F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POSITIVE_RATINGS</a:t>
            </a:r>
          </a:p>
          <a:p>
            <a:pPr algn="l">
              <a:lnSpc>
                <a:spcPts val="2201"/>
              </a:lnSpc>
              <a:spcBef>
                <a:spcPct val="0"/>
              </a:spcBef>
            </a:pPr>
            <a:endParaRPr lang="en-US" sz="2076" b="1" spc="76">
              <a:solidFill>
                <a:srgbClr val="ABE2F5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48404" lvl="1" indent="-224202" algn="l">
              <a:lnSpc>
                <a:spcPts val="2201"/>
              </a:lnSpc>
              <a:spcBef>
                <a:spcPct val="0"/>
              </a:spcBef>
              <a:buFont typeface="Arial"/>
              <a:buChar char="•"/>
            </a:pPr>
            <a:r>
              <a:rPr lang="en-US" sz="2076" b="1" spc="7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NEGATIVE_RATINGS</a:t>
            </a:r>
          </a:p>
          <a:p>
            <a:pPr algn="l">
              <a:lnSpc>
                <a:spcPts val="2201"/>
              </a:lnSpc>
              <a:spcBef>
                <a:spcPct val="0"/>
              </a:spcBef>
            </a:pPr>
            <a:endParaRPr lang="en-US" sz="2076" b="1" spc="76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48404" lvl="1" indent="-224202" algn="l">
              <a:lnSpc>
                <a:spcPts val="2201"/>
              </a:lnSpc>
              <a:spcBef>
                <a:spcPct val="0"/>
              </a:spcBef>
              <a:buFont typeface="Arial"/>
              <a:buChar char="•"/>
            </a:pPr>
            <a:r>
              <a:rPr lang="en-US" sz="2076" b="1" spc="76">
                <a:solidFill>
                  <a:srgbClr val="ABE2F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AVERAGE_PLAYTIME</a:t>
            </a:r>
          </a:p>
          <a:p>
            <a:pPr algn="l">
              <a:lnSpc>
                <a:spcPts val="2201"/>
              </a:lnSpc>
              <a:spcBef>
                <a:spcPct val="0"/>
              </a:spcBef>
            </a:pPr>
            <a:endParaRPr lang="en-US" sz="2076" b="1" spc="76">
              <a:solidFill>
                <a:srgbClr val="ABE2F5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48404" lvl="1" indent="-224202" algn="l">
              <a:lnSpc>
                <a:spcPts val="2201"/>
              </a:lnSpc>
              <a:spcBef>
                <a:spcPct val="0"/>
              </a:spcBef>
              <a:buFont typeface="Arial"/>
              <a:buChar char="•"/>
            </a:pPr>
            <a:r>
              <a:rPr lang="en-US" sz="2076" b="1" spc="7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MEDIAN_PLAYTIME</a:t>
            </a:r>
          </a:p>
          <a:p>
            <a:pPr algn="l">
              <a:lnSpc>
                <a:spcPts val="2201"/>
              </a:lnSpc>
              <a:spcBef>
                <a:spcPct val="0"/>
              </a:spcBef>
            </a:pPr>
            <a:endParaRPr lang="en-US" sz="2076" b="1" spc="76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48404" lvl="1" indent="-224202" algn="l">
              <a:lnSpc>
                <a:spcPts val="2201"/>
              </a:lnSpc>
              <a:spcBef>
                <a:spcPct val="0"/>
              </a:spcBef>
              <a:buFont typeface="Arial"/>
              <a:buChar char="•"/>
            </a:pPr>
            <a:r>
              <a:rPr lang="en-US" sz="2076" b="1" spc="76">
                <a:solidFill>
                  <a:srgbClr val="ABE2F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OWNERS</a:t>
            </a:r>
          </a:p>
          <a:p>
            <a:pPr algn="l">
              <a:lnSpc>
                <a:spcPts val="2201"/>
              </a:lnSpc>
              <a:spcBef>
                <a:spcPct val="0"/>
              </a:spcBef>
            </a:pPr>
            <a:endParaRPr lang="en-US" sz="2076" b="1" spc="76">
              <a:solidFill>
                <a:srgbClr val="ABE2F5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48404" lvl="1" indent="-224202" algn="l">
              <a:lnSpc>
                <a:spcPts val="2201"/>
              </a:lnSpc>
              <a:spcBef>
                <a:spcPct val="0"/>
              </a:spcBef>
              <a:buFont typeface="Arial"/>
              <a:buChar char="•"/>
            </a:pPr>
            <a:r>
              <a:rPr lang="en-US" sz="2076" b="1" spc="7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PRICE</a:t>
            </a:r>
          </a:p>
          <a:p>
            <a:pPr algn="l">
              <a:lnSpc>
                <a:spcPts val="2201"/>
              </a:lnSpc>
              <a:spcBef>
                <a:spcPct val="0"/>
              </a:spcBef>
            </a:pPr>
            <a:endParaRPr lang="en-US" sz="2076" b="1" spc="76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48404" lvl="1" indent="-224202" algn="l">
              <a:lnSpc>
                <a:spcPts val="2201"/>
              </a:lnSpc>
              <a:spcBef>
                <a:spcPct val="0"/>
              </a:spcBef>
              <a:buFont typeface="Arial"/>
              <a:buChar char="•"/>
            </a:pPr>
            <a:r>
              <a:rPr lang="en-US" sz="2076" b="1" spc="76">
                <a:solidFill>
                  <a:srgbClr val="ABE2F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IMAGE_URL</a:t>
            </a:r>
          </a:p>
          <a:p>
            <a:pPr algn="l">
              <a:lnSpc>
                <a:spcPts val="2201"/>
              </a:lnSpc>
              <a:spcBef>
                <a:spcPct val="0"/>
              </a:spcBef>
            </a:pPr>
            <a:endParaRPr lang="en-US" sz="2076" b="1" spc="76">
              <a:solidFill>
                <a:srgbClr val="ABE2F5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48404" lvl="1" indent="-224202" algn="l">
              <a:lnSpc>
                <a:spcPts val="2201"/>
              </a:lnSpc>
              <a:spcBef>
                <a:spcPct val="0"/>
              </a:spcBef>
              <a:buFont typeface="Arial"/>
              <a:buChar char="•"/>
            </a:pPr>
            <a:r>
              <a:rPr lang="en-US" sz="2076" b="1" spc="7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RANK_CATEGORY</a:t>
            </a:r>
          </a:p>
        </p:txBody>
      </p:sp>
      <p:sp>
        <p:nvSpPr>
          <p:cNvPr id="5" name="AutoShape 5"/>
          <p:cNvSpPr/>
          <p:nvPr/>
        </p:nvSpPr>
        <p:spPr>
          <a:xfrm>
            <a:off x="8982572" y="4033181"/>
            <a:ext cx="0" cy="4732752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/>
          <p:cNvSpPr/>
          <p:nvPr/>
        </p:nvSpPr>
        <p:spPr>
          <a:xfrm>
            <a:off x="4824255" y="2636116"/>
            <a:ext cx="8494753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" name="AutoShape 7"/>
          <p:cNvSpPr/>
          <p:nvPr/>
        </p:nvSpPr>
        <p:spPr>
          <a:xfrm flipV="1">
            <a:off x="4462048" y="2872913"/>
            <a:ext cx="1268782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" name="AutoShape 8"/>
          <p:cNvSpPr/>
          <p:nvPr/>
        </p:nvSpPr>
        <p:spPr>
          <a:xfrm flipV="1">
            <a:off x="7148484" y="2872913"/>
            <a:ext cx="1268782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9" name="AutoShape 9"/>
          <p:cNvSpPr/>
          <p:nvPr/>
        </p:nvSpPr>
        <p:spPr>
          <a:xfrm flipV="1">
            <a:off x="9713623" y="2847987"/>
            <a:ext cx="1268782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0" name="AutoShape 10"/>
          <p:cNvSpPr/>
          <p:nvPr/>
        </p:nvSpPr>
        <p:spPr>
          <a:xfrm flipV="1">
            <a:off x="12278552" y="2847987"/>
            <a:ext cx="1268782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14460">
                <a:alpha val="100000"/>
              </a:srgbClr>
            </a:gs>
            <a:gs pos="100000">
              <a:srgbClr val="101C3C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93371" y="3028481"/>
            <a:ext cx="11272644" cy="6229819"/>
          </a:xfrm>
          <a:custGeom>
            <a:avLst/>
            <a:gdLst/>
            <a:ahLst/>
            <a:cxnLst/>
            <a:rect l="l" t="t" r="r" b="b"/>
            <a:pathLst>
              <a:path w="11272644" h="6229819">
                <a:moveTo>
                  <a:pt x="0" y="0"/>
                </a:moveTo>
                <a:lnTo>
                  <a:pt x="11272644" y="0"/>
                </a:lnTo>
                <a:lnTo>
                  <a:pt x="11272644" y="6229819"/>
                </a:lnTo>
                <a:lnTo>
                  <a:pt x="0" y="62298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53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427789" y="518541"/>
            <a:ext cx="3892276" cy="1125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586"/>
              </a:lnSpc>
            </a:pPr>
            <a:r>
              <a:rPr lang="en-US" sz="8100" spc="2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PAGE 1</a:t>
            </a:r>
          </a:p>
        </p:txBody>
      </p:sp>
      <p:sp>
        <p:nvSpPr>
          <p:cNvPr id="4" name="AutoShape 4"/>
          <p:cNvSpPr/>
          <p:nvPr/>
        </p:nvSpPr>
        <p:spPr>
          <a:xfrm flipH="1">
            <a:off x="14230023" y="4745208"/>
            <a:ext cx="755399" cy="190313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/>
          <p:cNvSpPr/>
          <p:nvPr/>
        </p:nvSpPr>
        <p:spPr>
          <a:xfrm flipH="1">
            <a:off x="14212317" y="3109509"/>
            <a:ext cx="755399" cy="190313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/>
          <p:cNvSpPr/>
          <p:nvPr/>
        </p:nvSpPr>
        <p:spPr>
          <a:xfrm flipH="1">
            <a:off x="14230023" y="6445824"/>
            <a:ext cx="755399" cy="190313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15090316" y="6302949"/>
            <a:ext cx="2283443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 spc="5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Affichage Prix du jeu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090316" y="4602333"/>
            <a:ext cx="256959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 spc="5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Affichage d’Image du jeu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080791" y="2690409"/>
            <a:ext cx="256959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 spc="5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Filtres :</a:t>
            </a:r>
          </a:p>
          <a:p>
            <a:pPr algn="ctr">
              <a:lnSpc>
                <a:spcPts val="2100"/>
              </a:lnSpc>
            </a:pPr>
            <a:r>
              <a:rPr lang="en-US" sz="1500" b="1" spc="5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Sélecteur de Plateforme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0286" y="3579141"/>
            <a:ext cx="2691011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 spc="5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Filtres :</a:t>
            </a:r>
          </a:p>
          <a:p>
            <a:pPr algn="l">
              <a:lnSpc>
                <a:spcPts val="2100"/>
              </a:lnSpc>
            </a:pPr>
            <a:r>
              <a:rPr lang="en-US" sz="1500" b="1" spc="5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Sélecteur de Développeur</a:t>
            </a:r>
          </a:p>
          <a:p>
            <a:pPr algn="ctr">
              <a:lnSpc>
                <a:spcPts val="2100"/>
              </a:lnSpc>
            </a:pPr>
            <a:endParaRPr lang="en-US" sz="1500" b="1" spc="55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1" name="AutoShape 11"/>
          <p:cNvSpPr/>
          <p:nvPr/>
        </p:nvSpPr>
        <p:spPr>
          <a:xfrm flipH="1" flipV="1">
            <a:off x="12604410" y="3233334"/>
            <a:ext cx="1411057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2" name="AutoShape 12"/>
          <p:cNvSpPr/>
          <p:nvPr/>
        </p:nvSpPr>
        <p:spPr>
          <a:xfrm flipV="1">
            <a:off x="12604410" y="3223809"/>
            <a:ext cx="0" cy="311617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3" name="AutoShape 13"/>
          <p:cNvSpPr/>
          <p:nvPr/>
        </p:nvSpPr>
        <p:spPr>
          <a:xfrm flipV="1">
            <a:off x="13320109" y="3223809"/>
            <a:ext cx="0" cy="311617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4" name="AutoShape 14"/>
          <p:cNvSpPr/>
          <p:nvPr/>
        </p:nvSpPr>
        <p:spPr>
          <a:xfrm flipV="1">
            <a:off x="13996417" y="3223809"/>
            <a:ext cx="0" cy="311617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AutoShape 15"/>
          <p:cNvSpPr/>
          <p:nvPr/>
        </p:nvSpPr>
        <p:spPr>
          <a:xfrm flipH="1">
            <a:off x="13316730" y="1773935"/>
            <a:ext cx="3379" cy="1452372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6" name="AutoShape 16"/>
          <p:cNvSpPr/>
          <p:nvPr/>
        </p:nvSpPr>
        <p:spPr>
          <a:xfrm flipH="1">
            <a:off x="7420898" y="4234425"/>
            <a:ext cx="3484215" cy="730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AutoShape 17"/>
          <p:cNvSpPr/>
          <p:nvPr/>
        </p:nvSpPr>
        <p:spPr>
          <a:xfrm flipV="1">
            <a:off x="7420898" y="4231830"/>
            <a:ext cx="0" cy="323917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8" name="AutoShape 18"/>
          <p:cNvSpPr/>
          <p:nvPr/>
        </p:nvSpPr>
        <p:spPr>
          <a:xfrm flipV="1">
            <a:off x="9163050" y="4222305"/>
            <a:ext cx="0" cy="323917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 flipV="1">
            <a:off x="10895588" y="4222305"/>
            <a:ext cx="0" cy="323917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 flipH="1">
            <a:off x="9161294" y="2043525"/>
            <a:ext cx="1756" cy="2178733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H="1" flipV="1">
            <a:off x="3267972" y="3998241"/>
            <a:ext cx="749593" cy="1021434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AutoShape 22"/>
          <p:cNvSpPr/>
          <p:nvPr/>
        </p:nvSpPr>
        <p:spPr>
          <a:xfrm flipH="1" flipV="1">
            <a:off x="3216655" y="6659617"/>
            <a:ext cx="749593" cy="1021434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Box 23"/>
          <p:cNvSpPr txBox="1"/>
          <p:nvPr/>
        </p:nvSpPr>
        <p:spPr>
          <a:xfrm>
            <a:off x="570996" y="6105421"/>
            <a:ext cx="2569591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 spc="5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Comparaison des évaluations positives et négatives de plusieurs jeux populaires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41537" y="1400448"/>
            <a:ext cx="2438400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 spc="5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Indicateurs :</a:t>
            </a:r>
          </a:p>
          <a:p>
            <a:pPr marL="323850" lvl="1" indent="-161925" algn="l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 b="1" spc="5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Positive Rating : 27M</a:t>
            </a:r>
          </a:p>
          <a:p>
            <a:pPr marL="323850" lvl="1" indent="-161925" algn="l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 b="1" spc="5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Negative Rating : 6M</a:t>
            </a:r>
          </a:p>
          <a:p>
            <a:pPr marL="323850" lvl="1" indent="-161925" algn="l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 b="1" spc="5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Sum Playtime : 4M</a:t>
            </a:r>
          </a:p>
        </p:txBody>
      </p:sp>
      <p:sp>
        <p:nvSpPr>
          <p:cNvPr id="25" name="AutoShape 25"/>
          <p:cNvSpPr/>
          <p:nvPr/>
        </p:nvSpPr>
        <p:spPr>
          <a:xfrm>
            <a:off x="9144000" y="2062575"/>
            <a:ext cx="311617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6" name="AutoShape 26"/>
          <p:cNvSpPr/>
          <p:nvPr/>
        </p:nvSpPr>
        <p:spPr>
          <a:xfrm>
            <a:off x="13320109" y="1792985"/>
            <a:ext cx="323917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Box 27"/>
          <p:cNvSpPr txBox="1"/>
          <p:nvPr/>
        </p:nvSpPr>
        <p:spPr>
          <a:xfrm>
            <a:off x="13662447" y="1497710"/>
            <a:ext cx="256959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 spc="5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Boutons pour naviguer entre les pages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14460">
                <a:alpha val="100000"/>
              </a:srgbClr>
            </a:gs>
            <a:gs pos="100000">
              <a:srgbClr val="101C3C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93371" y="2901342"/>
            <a:ext cx="11301259" cy="6356958"/>
          </a:xfrm>
          <a:custGeom>
            <a:avLst/>
            <a:gdLst/>
            <a:ahLst/>
            <a:cxnLst/>
            <a:rect l="l" t="t" r="r" b="b"/>
            <a:pathLst>
              <a:path w="11301259" h="6356958">
                <a:moveTo>
                  <a:pt x="0" y="0"/>
                </a:moveTo>
                <a:lnTo>
                  <a:pt x="11301258" y="0"/>
                </a:lnTo>
                <a:lnTo>
                  <a:pt x="113012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442096" y="518541"/>
            <a:ext cx="4235654" cy="1125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586"/>
              </a:lnSpc>
            </a:pPr>
            <a:r>
              <a:rPr lang="en-US" sz="8100" spc="2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PAGE 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54969" y="1467786"/>
            <a:ext cx="4758625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 spc="5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Indicateurs :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-US" sz="1500" b="1" spc="5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Nombre de propriétaires de jeux : 0 - 20 000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-US" sz="1500" b="1" spc="5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 des succès (achievements) : 1M</a:t>
            </a:r>
          </a:p>
          <a:p>
            <a:pPr algn="l">
              <a:lnSpc>
                <a:spcPts val="2100"/>
              </a:lnSpc>
            </a:pPr>
            <a:endParaRPr lang="en-US" sz="1500" b="1" spc="55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5" name="AutoShape 5"/>
          <p:cNvSpPr/>
          <p:nvPr/>
        </p:nvSpPr>
        <p:spPr>
          <a:xfrm flipH="1">
            <a:off x="6156142" y="4203789"/>
            <a:ext cx="3591858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/>
          <p:cNvSpPr/>
          <p:nvPr/>
        </p:nvSpPr>
        <p:spPr>
          <a:xfrm flipV="1">
            <a:off x="6165659" y="4194801"/>
            <a:ext cx="8784" cy="311494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" name="AutoShape 7"/>
          <p:cNvSpPr/>
          <p:nvPr/>
        </p:nvSpPr>
        <p:spPr>
          <a:xfrm flipV="1">
            <a:off x="9728949" y="4194264"/>
            <a:ext cx="0" cy="311617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" name="AutoShape 8"/>
          <p:cNvSpPr/>
          <p:nvPr/>
        </p:nvSpPr>
        <p:spPr>
          <a:xfrm>
            <a:off x="6642885" y="1995923"/>
            <a:ext cx="0" cy="220786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9" name="AutoShape 9"/>
          <p:cNvSpPr/>
          <p:nvPr/>
        </p:nvSpPr>
        <p:spPr>
          <a:xfrm flipV="1">
            <a:off x="6643530" y="2000164"/>
            <a:ext cx="311439" cy="10547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15228648" y="3286052"/>
            <a:ext cx="256959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5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Affiche des titres de jeux</a:t>
            </a:r>
          </a:p>
        </p:txBody>
      </p:sp>
      <p:sp>
        <p:nvSpPr>
          <p:cNvPr id="11" name="AutoShape 11"/>
          <p:cNvSpPr/>
          <p:nvPr/>
        </p:nvSpPr>
        <p:spPr>
          <a:xfrm flipH="1">
            <a:off x="14315867" y="3428927"/>
            <a:ext cx="755399" cy="190313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2" name="AutoShape 12"/>
          <p:cNvSpPr/>
          <p:nvPr/>
        </p:nvSpPr>
        <p:spPr>
          <a:xfrm flipH="1">
            <a:off x="14298161" y="5942049"/>
            <a:ext cx="755399" cy="190313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3" name="AutoShape 13"/>
          <p:cNvSpPr/>
          <p:nvPr/>
        </p:nvSpPr>
        <p:spPr>
          <a:xfrm flipH="1">
            <a:off x="5796743" y="8803531"/>
            <a:ext cx="2057373" cy="88731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4" name="AutoShape 14"/>
          <p:cNvSpPr/>
          <p:nvPr/>
        </p:nvSpPr>
        <p:spPr>
          <a:xfrm flipH="1" flipV="1">
            <a:off x="3044739" y="5332064"/>
            <a:ext cx="855551" cy="183544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/>
          <p:cNvSpPr txBox="1"/>
          <p:nvPr/>
        </p:nvSpPr>
        <p:spPr>
          <a:xfrm>
            <a:off x="15228648" y="5665824"/>
            <a:ext cx="216898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5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Compare l’âge requis pour différents jeux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8881" y="4955687"/>
            <a:ext cx="231205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5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Top 10, Top 20, Top 50 pour filtrer les jeux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85817" y="9376518"/>
            <a:ext cx="402894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 spc="5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Répartition des jeux par catégories </a:t>
            </a:r>
          </a:p>
          <a:p>
            <a:pPr algn="ctr">
              <a:lnSpc>
                <a:spcPts val="2100"/>
              </a:lnSpc>
            </a:pPr>
            <a:r>
              <a:rPr lang="en-US" sz="1500" b="1" spc="5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(avec une courbe de tendance)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14460">
                <a:alpha val="100000"/>
              </a:srgbClr>
            </a:gs>
            <a:gs pos="100000">
              <a:srgbClr val="101C3C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50600" y="3028481"/>
            <a:ext cx="11244029" cy="6229819"/>
          </a:xfrm>
          <a:custGeom>
            <a:avLst/>
            <a:gdLst/>
            <a:ahLst/>
            <a:cxnLst/>
            <a:rect l="l" t="t" r="r" b="b"/>
            <a:pathLst>
              <a:path w="11244029" h="6229819">
                <a:moveTo>
                  <a:pt x="0" y="0"/>
                </a:moveTo>
                <a:lnTo>
                  <a:pt x="11244029" y="0"/>
                </a:lnTo>
                <a:lnTo>
                  <a:pt x="11244029" y="6229819"/>
                </a:lnTo>
                <a:lnTo>
                  <a:pt x="0" y="62298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413481" y="518541"/>
            <a:ext cx="4135502" cy="1125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586"/>
              </a:lnSpc>
            </a:pPr>
            <a:r>
              <a:rPr lang="en-US" sz="8100" spc="2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PAGE 3</a:t>
            </a:r>
          </a:p>
        </p:txBody>
      </p:sp>
      <p:sp>
        <p:nvSpPr>
          <p:cNvPr id="4" name="AutoShape 4"/>
          <p:cNvSpPr/>
          <p:nvPr/>
        </p:nvSpPr>
        <p:spPr>
          <a:xfrm flipH="1">
            <a:off x="14250083" y="4285055"/>
            <a:ext cx="918998" cy="243226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/>
          <p:cNvSpPr/>
          <p:nvPr/>
        </p:nvSpPr>
        <p:spPr>
          <a:xfrm>
            <a:off x="2859728" y="5714168"/>
            <a:ext cx="1112654" cy="1645352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15169082" y="3846905"/>
            <a:ext cx="2254828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Développeurs par catégorie </a:t>
            </a:r>
          </a:p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(graphique linéaire)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8699" y="5418893"/>
            <a:ext cx="225482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Prix moyen par genre (graphique en barres)</a:t>
            </a:r>
          </a:p>
        </p:txBody>
      </p:sp>
      <p:sp>
        <p:nvSpPr>
          <p:cNvPr id="8" name="AutoShape 8"/>
          <p:cNvSpPr/>
          <p:nvPr/>
        </p:nvSpPr>
        <p:spPr>
          <a:xfrm>
            <a:off x="5158239" y="2690323"/>
            <a:ext cx="1227113" cy="1845656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2903411" y="2547448"/>
            <a:ext cx="2254828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Jeux par âge requis</a:t>
            </a:r>
          </a:p>
        </p:txBody>
      </p:sp>
      <p:sp>
        <p:nvSpPr>
          <p:cNvPr id="10" name="AutoShape 10"/>
          <p:cNvSpPr/>
          <p:nvPr/>
        </p:nvSpPr>
        <p:spPr>
          <a:xfrm flipH="1">
            <a:off x="10029292" y="2256795"/>
            <a:ext cx="0" cy="6009354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V="1">
            <a:off x="9701989" y="8255602"/>
            <a:ext cx="311439" cy="10547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2" name="AutoShape 12"/>
          <p:cNvSpPr/>
          <p:nvPr/>
        </p:nvSpPr>
        <p:spPr>
          <a:xfrm flipV="1">
            <a:off x="9701344" y="6390657"/>
            <a:ext cx="311439" cy="10547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3" name="AutoShape 13"/>
          <p:cNvSpPr/>
          <p:nvPr/>
        </p:nvSpPr>
        <p:spPr>
          <a:xfrm flipV="1">
            <a:off x="9700699" y="5113914"/>
            <a:ext cx="311439" cy="10547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Box 14"/>
          <p:cNvSpPr txBox="1"/>
          <p:nvPr/>
        </p:nvSpPr>
        <p:spPr>
          <a:xfrm>
            <a:off x="10318311" y="1615059"/>
            <a:ext cx="3227732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 spc="5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Indicateurs :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-US" sz="1500" b="1" spc="5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Nombre de plateformes : 7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-US" sz="1500" b="1" spc="5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Nombre de catégories : 3333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-US" sz="1500" b="1" spc="5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Nombre de genres : 1552</a:t>
            </a:r>
          </a:p>
        </p:txBody>
      </p:sp>
      <p:sp>
        <p:nvSpPr>
          <p:cNvPr id="15" name="AutoShape 15"/>
          <p:cNvSpPr/>
          <p:nvPr/>
        </p:nvSpPr>
        <p:spPr>
          <a:xfrm flipV="1">
            <a:off x="10029936" y="2251521"/>
            <a:ext cx="311439" cy="10547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</Words>
  <Application>Microsoft Office PowerPoint</Application>
  <PresentationFormat>Custom</PresentationFormat>
  <Paragraphs>69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Open Sans Bold</vt:lpstr>
      <vt:lpstr>League Spartan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STEAM DASH - BOARD</dc:title>
  <cp:lastModifiedBy>Yahya Misky</cp:lastModifiedBy>
  <cp:revision>3</cp:revision>
  <dcterms:created xsi:type="dcterms:W3CDTF">2006-08-16T00:00:00Z</dcterms:created>
  <dcterms:modified xsi:type="dcterms:W3CDTF">2026-06-13T12:40:32Z</dcterms:modified>
  <dc:identifier>DAGgAxmEzUg</dc:identifier>
</cp:coreProperties>
</file>